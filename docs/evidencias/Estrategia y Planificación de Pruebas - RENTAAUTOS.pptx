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JetBrains Mono"/>
      <ns0:regular ns1:id="rIdFont20"/>
    </ns0:embeddedFont>
    <ns0:embeddedFont>
      <ns0:font typeface="Plus Jakarta Sans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0f841864-0730-4560-bbd1-3973477f06ef.fntdata" /><ns0:Relationship Id="rIdFont21" Type="http://schemas.openxmlformats.org/officeDocument/2006/relationships/font" Target="fonts/cc1d9331-2386-4cf6-915e-7e3ec6db97f6.fntdata" /><ns0:Relationship Id="rIdFont22" Type="http://schemas.openxmlformats.org/officeDocument/2006/relationships/font" Target="fonts/ee6b8533-03fc-45b5-9e17-576b251a596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57825"/>
            <a:ext cx="10972800" cy="790575"/>
          </a:xfrm>
          <a:prstGeom prst="roundRect">
            <a:avLst>
              <a:gd name="adj" fmla="val 14457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074765"/>
            <a:ext cx="685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5524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Plus Jakarta Sans"/>
              </a:rPr>
              <a:t>UNIVERSIDAD CONTINENTAL — EVALUACIÓN PARCIAL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9875" y="609600"/>
            <a:ext cx="1440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Plus Jakarta Sans"/>
              </a:rPr>
              <a:t>OCTUBRE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54584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Estrategia y Planificación de Pruebas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84215"/>
            <a:ext cx="10715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CBD5E1"/>
                </a:solidFill>
                <a:latin typeface="Plus Jakarta Sans"/>
              </a:rPr>
              <a:t>PROYECTO: RENTAAUTOS — Sistema de Alquiler de Vehículos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648325"/>
            <a:ext cx="2976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QA / DISEÑO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857875"/>
            <a:ext cx="297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[Tu Nombre]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2350" y="5648325"/>
            <a:ext cx="2976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350" y="5857875"/>
            <a:ext cx="297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[Nombre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5648325"/>
            <a:ext cx="2976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CONFIGURACIÓN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5857875"/>
            <a:ext cx="297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[Nombre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4450" y="5648325"/>
            <a:ext cx="2976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DOCUMENTACIÓN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4450" y="5857875"/>
            <a:ext cx="297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[Nombre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52637"/>
            <a:ext cx="52959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33737"/>
            <a:ext cx="5295900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33912"/>
            <a:ext cx="1663749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5749" y="4633912"/>
            <a:ext cx="1663749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41899" y="4633912"/>
            <a:ext cx="1663749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90737"/>
            <a:ext cx="5295900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0505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86150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01. CONTEXTO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Arquitectura del Sistema RENTAAUTOS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95562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Desarrollado en Laravel 12 con PHPUnit para automatización.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76662"/>
            <a:ext cx="4933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Automatizar validación de fechas, tarifas y disponibilidad de catálogo.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131" y="4824412"/>
            <a:ext cx="1698687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2563EB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8280" y="4824412"/>
            <a:ext cx="1698687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430" y="4824412"/>
            <a:ext cx="1698687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Plus Jakarta Sans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281237"/>
            <a:ext cx="19877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Tecnología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62337"/>
            <a:ext cx="1250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Propósito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6" y="5195887"/>
            <a:ext cx="1603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Modelos Eloquent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5905" y="5195887"/>
            <a:ext cx="16034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Servicio de Negocio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2055" y="5195887"/>
            <a:ext cx="1603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Pruebas Pasadas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5334000" cy="5000625"/>
          </a:xfrm>
          <a:prstGeom prst="roundRect">
            <a:avLst>
              <a:gd name="adj" fmla="val 304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00175"/>
            <a:ext cx="5334000" cy="5000625"/>
          </a:xfrm>
          <a:prstGeom prst="roundRect">
            <a:avLst>
              <a:gd name="adj" fmla="val 3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04975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70497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00425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71900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43375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4850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400425"/>
            <a:ext cx="12382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771900"/>
            <a:ext cx="12382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143375"/>
            <a:ext cx="12382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514850"/>
            <a:ext cx="123825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01. CONTEXTO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Definición del Alcance de Pruebas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1704975"/>
            <a:ext cx="27503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4532D"/>
                </a:solidFill>
                <a:latin typeface="Plus Jakarta Sans"/>
              </a:rPr>
              <a:t>DENTRO del Alcance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7087"/>
            <a:ext cx="5905500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ReservaService:</a:t>
            </a:r>
            <a:r>
              <a:rPr b="1" sz="1350" i="0" u="none">
                <a:solidFill>
                  <a:srgbClr val="166534"/>
                </a:solidFill>
                <a:latin typeface="Plus Jakarta Sans"/>
              </a:rPr>
              <a:t> Lógica crítica de validación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8562"/>
            <a:ext cx="5905500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Modelo Auto:</a:t>
            </a:r>
            <a:r>
              <a:rPr b="1" sz="1350" i="0" u="none">
                <a:solidFill>
                  <a:srgbClr val="166534"/>
                </a:solidFill>
                <a:latin typeface="Plus Jakarta Sans"/>
              </a:rPr>
              <a:t> Base del catálogo de vehículos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0037"/>
            <a:ext cx="5905500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Modelo Reserva:</a:t>
            </a:r>
            <a:r>
              <a:rPr b="1" sz="1350" i="0" u="none">
                <a:solidFill>
                  <a:srgbClr val="166534"/>
                </a:solidFill>
                <a:latin typeface="Plus Jakarta Sans"/>
              </a:rPr>
              <a:t> Entidad transaccional principal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1512"/>
            <a:ext cx="5905500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Relaciones Eloquent:</a:t>
            </a:r>
            <a:r>
              <a:rPr b="1" sz="1350" i="0" u="none">
                <a:solidFill>
                  <a:srgbClr val="166534"/>
                </a:solidFill>
                <a:latin typeface="Plus Jakarta Sans"/>
              </a:rPr>
              <a:t> Integridad referencial 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1704975"/>
            <a:ext cx="252531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Plus Jakarta Sans"/>
              </a:rPr>
              <a:t>FUERA del 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367087"/>
            <a:ext cx="5638800" cy="2190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Controladores HTTP y Vistas Blade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3738562"/>
            <a:ext cx="5638800" cy="2190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Integración con APIs externas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4110037"/>
            <a:ext cx="5638800" cy="2190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Pruebas de rendimiento y carga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4481512"/>
            <a:ext cx="5638800" cy="2190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Pruebas de seguridad y aceptación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2262"/>
            <a:ext cx="350520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62262"/>
            <a:ext cx="350520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62262"/>
            <a:ext cx="350520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670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670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670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290887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2" y="3290887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825" y="329088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02. ESTRATEGIA Y PLANIFICACIÓN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Niveles de Pruebas Implementados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14762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Pruebas de Servicio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95762"/>
            <a:ext cx="2990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Validación aislada de reglas de negocio en PHPUnit.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814762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Pruebas de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4195762"/>
            <a:ext cx="2990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Verificación de fillable, casts y RefreshDatabase.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814762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Pruebas de Regresión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195762"/>
            <a:ext cx="2990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Ejecución continua para proteger funcionalidades.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95353" y="3219450"/>
            <a:ext cx="676275" cy="247650"/>
          </a:xfrm>
          <a:prstGeom prst="roundRect">
            <a:avLst>
              <a:gd name="adj" fmla="val 230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95353" y="3743325"/>
            <a:ext cx="504825" cy="247650"/>
          </a:xfrm>
          <a:prstGeom prst="roundRect">
            <a:avLst>
              <a:gd name="adj" fmla="val 23076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95353" y="4267200"/>
            <a:ext cx="676275" cy="247650"/>
          </a:xfrm>
          <a:prstGeom prst="roundRect">
            <a:avLst>
              <a:gd name="adj" fmla="val 230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5353" y="479107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2557462"/>
          <a:ext cx="10972798" cy="26098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733353"/>
                <a:gridCol w="1232445"/>
                <a:gridCol w="6007000"/>
              </a:tblGrid>
              <a:tr h="52197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Riesgo Identificado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Impacto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Prueba de Cobertura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Reservas duplicadas sobre auto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2563EB"/>
                          </a:solidFill>
                          <a:latin typeface="JetBrains Mono"/>
                        </a:rPr>
                        <a:t>test_no_permite_reservar_auto_no_disponible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Cálculo incorrecto de tarifa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2563EB"/>
                          </a:solidFill>
                          <a:latin typeface="JetBrains Mono"/>
                        </a:rPr>
                        <a:t>test_calcula_total_correctamente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Reserva de auto en mantenimiento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2563EB"/>
                          </a:solidFill>
                          <a:latin typeface="JetBrains Mono"/>
                        </a:rPr>
                        <a:t>test_no_crea_reserva_si_auto_no_esta_disponible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197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Fechas de reserva inválidas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2563EB"/>
                          </a:solidFill>
                          <a:latin typeface="JetBrains Mono"/>
                        </a:rPr>
                        <a:t>test_no_permite_fechas_invalidas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02. ESTRATEGIA Y PLANIFICACIÓN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Matriz de Riesgos Mitigados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9653" y="3257550"/>
            <a:ext cx="542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Crítico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9653" y="3781425"/>
            <a:ext cx="371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580C"/>
                </a:solidFill>
                <a:latin typeface="Plus Jakarta Sans"/>
              </a:rPr>
              <a:t>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653" y="4305300"/>
            <a:ext cx="542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Crítico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9653" y="4829175"/>
            <a:ext cx="514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Medio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686050"/>
            <a:ext cx="560070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47937"/>
            <a:ext cx="50673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00437"/>
            <a:ext cx="50673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52937"/>
            <a:ext cx="50673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" y="27765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" y="37290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" y="46815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371850"/>
            <a:ext cx="14287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695700"/>
            <a:ext cx="142875" cy="161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019550"/>
            <a:ext cx="14287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343400"/>
            <a:ext cx="14287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667250"/>
            <a:ext cx="14287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02. ESTRATEGIA Y PLANIFICACIÓN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Orden de Ejecución y Criterios AAA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2952750"/>
            <a:ext cx="5943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Criterios de Aceptación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27765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37290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46815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Plus Jakarta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3343275"/>
            <a:ext cx="5943600" cy="209550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Ejecución consistente de 3 o más veces.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3667125"/>
            <a:ext cx="5943600" cy="209550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Cobertura de caso éxito y excepción.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400" y="3990975"/>
            <a:ext cx="5943600" cy="209550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Nomenclatura clara en snake_case.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4314825"/>
            <a:ext cx="5943600" cy="209550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Estructura patrón AAA (Arrange-Act-Assert).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8400" y="4638675"/>
            <a:ext cx="5943600" cy="209550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Uso del trait RefreshDatabase.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400" y="2738437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Pruebas de 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400" y="2976562"/>
            <a:ext cx="2690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AutoTest y ReservaTest iniciales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3690937"/>
            <a:ext cx="34754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Pruebas Unitarias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5400" y="3929062"/>
            <a:ext cx="3309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Lógica de negocio ReservaServiceTest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5400" y="4643437"/>
            <a:ext cx="331291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Regresión Completa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5400" y="4881562"/>
            <a:ext cx="3155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Ejecución global con php artisan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9387"/>
            <a:ext cx="5562600" cy="236220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53200" y="2633662"/>
            <a:ext cx="2438400" cy="1190625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2633662"/>
            <a:ext cx="2438400" cy="1190625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53200" y="3976687"/>
            <a:ext cx="2438400" cy="1190625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0" y="3976687"/>
            <a:ext cx="2438400" cy="1190625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2824162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824162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762" y="4167187"/>
            <a:ext cx="295275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0" y="4167187"/>
            <a:ext cx="381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02. ESTRATEGIA Y PLANIFICACIÓN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Herramientas y Responsabilidades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986087"/>
            <a:ext cx="66008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Distribución de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2231" y="3205162"/>
            <a:ext cx="27003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PHPUnit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462337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Framework Pruebas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3031" y="3205162"/>
            <a:ext cx="27003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Laravel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7325" y="3462337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Framework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2231" y="4548187"/>
            <a:ext cx="27003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Git /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805362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Control Versiones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3031" y="4548187"/>
            <a:ext cx="27003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7325" y="4805362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IDE Desarrollo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376612"/>
            <a:ext cx="211931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Diseñador de Pruebas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725" y="3376612"/>
            <a:ext cx="11525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2563EB"/>
                </a:solidFill>
                <a:latin typeface="Plus Jakarta Sans"/>
              </a:rPr>
              <a:t>[Nombre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786187"/>
            <a:ext cx="22264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Desarrollador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150" y="3786187"/>
            <a:ext cx="11811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2563EB"/>
                </a:solidFill>
                <a:latin typeface="Plus Jakarta Sans"/>
              </a:rPr>
              <a:t>[Nombre 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4195762"/>
            <a:ext cx="20002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Coordinador Config.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150" y="4195762"/>
            <a:ext cx="11811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2563EB"/>
                </a:solidFill>
                <a:latin typeface="Plus Jakarta Sans"/>
              </a:rPr>
              <a:t>[Nombre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4605337"/>
            <a:ext cx="148828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Documentador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0625" y="4605337"/>
            <a:ext cx="1190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2563EB"/>
                </a:solidFill>
                <a:latin typeface="Plus Jakarta Sans"/>
              </a:rPr>
              <a:t>[Nombre 4]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19362"/>
            <a:ext cx="6026794" cy="268605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1194" y="2690812"/>
            <a:ext cx="4641205" cy="70485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1194" y="3509962"/>
            <a:ext cx="4641205" cy="70485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1194" y="4329112"/>
            <a:ext cx="4641205" cy="70485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1194" y="2690812"/>
            <a:ext cx="38100" cy="704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1194" y="3509962"/>
            <a:ext cx="38100" cy="704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1194" y="4329112"/>
            <a:ext cx="38100" cy="704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03. DISEÑO E IMPLEMENTACIÓN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Pruebas Unitarias — ReservaService (5 Pruebas)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747962"/>
            <a:ext cx="69619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// ReservaServiceTest.php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024187"/>
            <a:ext cx="69619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JetBrains Mono"/>
              </a:rPr>
              <a:t>public function 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test_no_crea_reserva_si_auto_no_esta_disponible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(): void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224212"/>
            <a:ext cx="6809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// Arrange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424237"/>
            <a:ext cx="6809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JetBrains Mono"/>
              </a:rPr>
              <a:t>$auto = Auto::create(['estado' =&gt; </a:t>
            </a:r>
            <a:r>
              <a:rPr b="0" sz="1050" i="0" u="none">
                <a:solidFill>
                  <a:srgbClr val="F59E0B"/>
                </a:solidFill>
                <a:latin typeface="JetBrains Mono"/>
              </a:rPr>
              <a:t>'mantenimiento'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]);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624262"/>
            <a:ext cx="6809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JetBrains Mono"/>
              </a:rPr>
              <a:t>$service = new ReservaService();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900487"/>
            <a:ext cx="6809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// Assert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100512"/>
            <a:ext cx="6809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JetBrains Mono"/>
              </a:rPr>
              <a:t>$this-&gt;expectException(InvalidArgumentException::class);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376737"/>
            <a:ext cx="6809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// 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4576762"/>
            <a:ext cx="6809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JetBrains Mono"/>
              </a:rPr>
              <a:t>$service-&gt;crearReserva([...]);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776787"/>
            <a:ext cx="69619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JetBrains Mono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1694" y="2843212"/>
            <a:ext cx="50603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Conflictos de Fechas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1694" y="3062287"/>
            <a:ext cx="50603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Lanza excepción ante solapamiento de fechas.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1694" y="3662362"/>
            <a:ext cx="50603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Cálculo de Tarifas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1694" y="3881437"/>
            <a:ext cx="50603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Valida multiplicación exacta de días por tarifa.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1694" y="4481512"/>
            <a:ext cx="506030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Validación de Fechas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1694" y="4700587"/>
            <a:ext cx="506030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Rechaza rangos donde fecha_fin &lt; fecha_inicio.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3687"/>
            <a:ext cx="5334000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33687"/>
            <a:ext cx="5334000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38487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138487"/>
            <a:ext cx="180975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03. DISEÑO E IMPLEMENTACIÓN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Pruebas de Modelo — Eloquent &amp; Relaciones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100387"/>
            <a:ext cx="6300787" cy="2667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AutoTest (4 Pruebas)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100387"/>
            <a:ext cx="5676900" cy="2667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ReservaTest (4 Pruebas)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19487"/>
            <a:ext cx="60007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✓ Inserción correcta en tabla autos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43337"/>
            <a:ext cx="60007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✓ Validación de 6 campos fillable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167187"/>
            <a:ext cx="60007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✓ Relación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hasMany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con reservas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491037"/>
            <a:ext cx="60007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✓ Valor por defecto ("disponible")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519487"/>
            <a:ext cx="56769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✓ Inserción en tabla reservas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3843337"/>
            <a:ext cx="56769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✓ Casts automáticos a objetos Carbon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4167187"/>
            <a:ext cx="56769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✓ Relación </a:t>
            </a:r>
            <a:r>
              <a:rPr b="1" sz="1275" i="0" u="none">
                <a:solidFill>
                  <a:srgbClr val="334155"/>
                </a:solidFill>
                <a:latin typeface="Plus Jakarta Sans"/>
              </a:rPr>
              <a:t>belongsTo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con Auto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491037"/>
            <a:ext cx="56769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✓ Estado inicial activo por defecto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4352925"/>
            <a:ext cx="2387649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02249" y="4352925"/>
            <a:ext cx="2387649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18499" y="4352925"/>
            <a:ext cx="2387649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04. RESULTADOS Y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Ejecución Exitosa con PHPUnit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6087" y="3781425"/>
            <a:ext cx="7774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Plus Jakarta Sans"/>
              </a:rPr>
              <a:t>19 Afirmaciones evaluadas en un tiempo de ejecución de 0.85s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0" y="2486025"/>
            <a:ext cx="4214812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0F172A"/>
                </a:solidFill>
                <a:latin typeface="Plus Jakarta Sans"/>
              </a:rPr>
              <a:t>13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0" y="3248025"/>
            <a:ext cx="13335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5668" y="4543425"/>
            <a:ext cx="2508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ReservaServiceTest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5668" y="4762500"/>
            <a:ext cx="2508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5 / 5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1918" y="4543425"/>
            <a:ext cx="2508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AutoTest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1918" y="4762500"/>
            <a:ext cx="2508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4 / 4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8168" y="4543425"/>
            <a:ext cx="2508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ReservaTest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8168" y="4762500"/>
            <a:ext cx="2508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4 / 4 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7062"/>
            <a:ext cx="3505200" cy="1466850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7062"/>
            <a:ext cx="3505200" cy="1466850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7062"/>
            <a:ext cx="3505200" cy="1466850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167062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3167062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167062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09700" y="3767137"/>
            <a:ext cx="1669107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0100" y="3967162"/>
            <a:ext cx="1486197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04. RESULTADOS Y CONCLUSIONES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Problemas Encontrados y Soluciones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718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01. Recarga de Estado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767137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Uso de para validar valores por defecto de la base de datos.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4718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02. Datos Residuales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767137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Implementación del trait en cada clase de prueba.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471862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03. Conflictos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767137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Resolución de merge entre branch develop y main manteniendo versión completa.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6850" y="3786187"/>
            <a:ext cx="197208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monospace"/>
              </a:rPr>
              <a:t>$reserva-&gt;fresh()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250" y="3986212"/>
            <a:ext cx="174344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monospace"/>
              </a:rPr>
              <a:t>RefreshDatabase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09900" y="4514850"/>
            <a:ext cx="3038475" cy="428625"/>
          </a:xfrm>
          <a:prstGeom prst="roundRect">
            <a:avLst>
              <a:gd name="adj" fmla="val 50000"/>
            </a:avLst>
          </a:prstGeom>
          <a:solidFill>
            <a:srgbClr val="27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00775" y="4514850"/>
            <a:ext cx="2981325" cy="428625"/>
          </a:xfrm>
          <a:prstGeom prst="roundRect">
            <a:avLst>
              <a:gd name="adj" fmla="val 50000"/>
            </a:avLst>
          </a:prstGeom>
          <a:solidFill>
            <a:srgbClr val="27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4657725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4657725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23109" y="1914525"/>
            <a:ext cx="4345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Plus Jakarta Sans"/>
              </a:rPr>
              <a:t>PROYECTO RENTAAUTOS — CONCLUSIÓN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296" y="2266950"/>
            <a:ext cx="11251406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Plus Jakarta Sans"/>
              </a:rPr>
              <a:t>Base Sólida Lista para Integración Continua (CI/CD)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1156" y="3562350"/>
            <a:ext cx="892968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Las 13 pruebas automatizadas garantizan la estabilidad de la lógica de negocio y sientan las bases para la integración en GitHub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8690" y="4629150"/>
            <a:ext cx="334089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Repositorio GitHub Configurado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6709" y="4629150"/>
            <a:ext cx="326945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100% Reglas Críticas Mitigadas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https://www.promovre.com/wp-content/uploads/2025/09/17-Types-of-Testing-in-Software-Engineering-Every-QA-Should-Know-850x510.webp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607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www.promovre.com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